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709160"/>
            <a:ext cx="12191695" cy="64008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846320"/>
            <a:ext cx="12191695" cy="27432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Calibri"/>
              </a:rPr>
              <a:t>Kompleksowa Analiza Regresyjna Cen Domów</a:t>
            </a:r>
          </a:p>
          <a:p>
            <a:r>
              <a:rPr sz="2000" b="0" i="0">
                <a:solidFill>
                  <a:srgbClr val="CCB974"/>
                </a:solidFill>
                <a:latin typeface="Calibri"/>
              </a:rPr>
              <a:t>Predykcja ceny sprzedaży nieruchomości (SalePrice) — Ames Housing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500" b="0" i="0">
                <a:solidFill>
                  <a:srgbClr val="C9D1DC"/>
                </a:solidFill>
                <a:latin typeface="Calibri"/>
              </a:rPr>
              <a:t>Pełny pipeline uczenia maszynowego: EDA · Feature Engineering · Modelowanie · Explainable AI</a:t>
            </a:r>
          </a:p>
          <a:p>
            <a:r>
              <a:rPr sz="1500" b="0" i="0">
                <a:solidFill>
                  <a:srgbClr val="C9D1DC"/>
                </a:solidFill>
                <a:latin typeface="Calibri"/>
              </a:rPr>
              <a:t>1460 domów treningowych · 79 cech · 8 modeli regresyjnych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WPROWADZENIE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Cel projektu i dane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Cel: zbudować i ocenić modele przewidujące cenę sprzedaży domu (SalePrice).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Dane: Ames Housing (konkurs Kaggle "House Prices").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Zbiór treningowy: 1460 domów (z ceną).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Zbiór testowy: 1459 domów (BEZ ceny — etykiety ukryte).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Cechy: 36 numerycznych + 43 kategorycznych.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Metryka jakości: R², RMSE, MAE, MAPE (na skali dolarowej).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Wyzwanie: silnie prawostronnie skośny rozkład cen (skośność = 1.88).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Rzetelna ocena wymaga oddzielnego zbioru walidacyjnego — test nie ma etykiet.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METODYKA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Architektura rozwiązania (pipeline)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1. Eksploracja danych (EDA) — rozkłady, korelacje, braki.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2. Imputacja z logiką dziedzinową — brak udogodnienia ≠ błąd losowy.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3. Feature Engineering — 12 nowych cech (TotalSF, HouseAge, QualityCondition…).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4. Detekcja outlierów (Isolation Forest).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5. Selekcja cech (korelacja + VIF) i preprocessing w Pipeline.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6. Modelowanie: 8 algorytmów + strojenie hiperparametrów (CV).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7. Ewaluacja na zbiorze walidacyjnym + analiza rezyduów.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8. Interpretowalność (SHAP) i predykcje na teście.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Cały preprocessing wpięty w Pipeline → brak wycieku danych podczas kroswalidacji.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EKSPLORACJA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EDA — rozkład zmiennej celu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4</a:t>
            </a:r>
          </a:p>
        </p:txBody>
      </p:sp>
      <p:pic>
        <p:nvPicPr>
          <p:cNvPr id="8" name="Picture 7" descr="01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325880"/>
            <a:ext cx="9601200" cy="336042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Cena jest skośna → trenujemy modele na log(1+SalePrice) (skośność spada do ~0.1).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EKSPLORACJA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EDA — cechy najsilniej powiązane z ceną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5</a:t>
            </a:r>
          </a:p>
        </p:txBody>
      </p:sp>
      <p:pic>
        <p:nvPicPr>
          <p:cNvPr id="8" name="Picture 7" descr="02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25880"/>
            <a:ext cx="9052560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Jakość (OverallQual), powierzchnia (TotalSF, GrLivArea) i garaż najmocniej napędzają cenę.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PRZYGOTOWANIE DANYCH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Obsługa braków — logika dziedzinowa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Problem: ślepa imputacja medianą/modą zniekształca rynek.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Dom bez garażu dostałby medianową powierzchnię garażu → sztuczne zawyżenie.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F3B4C"/>
                </a:solidFill>
                <a:latin typeface="Calibri"/>
              </a:rPr>
              <a:t>●  Rozwiązanie — rozróżnienie typu braku: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Braki STRUKTURALNE (brak udogodnienia): kategoryczne → "None", numeryczne → 0.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Braki LOSOWE (LotFrontage, Electrical): mediana/moda — liczone w Pipeline.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Efekt: liczba braków w treningu spadła 7829 → 260.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Stałe wartości ("None"/0) nie powodują wycieku danych do zbioru testowego.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Model nie uczy się już fałszywych zależności z błędnie uzupełnionych braków.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PRZYGOTOWANIE DANYCH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Detekcja wartości odstających (Isolation Forest)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7</a:t>
            </a:r>
          </a:p>
        </p:txBody>
      </p:sp>
      <p:pic>
        <p:nvPicPr>
          <p:cNvPr id="8" name="Picture 7" descr="03_outli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7589520" cy="41542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Usunięto 15 anomalii (1460→1445) — tylko z treningu, test nienaruszony.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MODELOWANIE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Preprocessing — dwie ścieżki + PCA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Log-transformacja celu: sprawiedliwsza penalizacja błędów drogich domów.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ColumnTransformer w Pipeline (imputacja + skalowanie + OneHot).</a:t>
            </a:r>
          </a:p>
          <a:p>
            <a:pPr>
              <a:spcAft>
                <a:spcPts val="1000"/>
              </a:spcAft>
            </a:pPr>
            <a:r>
              <a:rPr sz="1700" b="1" i="0">
                <a:solidFill>
                  <a:srgbClr val="2F3B4C"/>
                </a:solidFill>
                <a:latin typeface="Calibri"/>
              </a:rPr>
              <a:t>●  Dwie ścieżki dobrane do typu algorytmu: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ŚCIEŻKA 1 — modele liniowe/KNN: StandardScaler + PCA → 25 składowych (95% wariancji).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ŚCIEŻKA 2 — modele drzewiaste: BEZ PCA → 78 oryginalnych cech.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PCA pogarsza drzewa i niszczy interpretowalność → stosujemy je tylko dla modeli liniowych.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Dobór preprocessingu do algorytmu = lepsze wyniki i zachowana interpretowalność.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MODELOWANIE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Modelowanie i uczciwa ewaluacja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8 modeli: Linear, Ridge, Lasso, KNN, Random Forest, Extra Trees, Gradient Boosting, XGBoost.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Strojenie hiperparametrów: GridSearchCV (liniowe) + RandomizedSearchCV (drzewiaste).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5-krotna kroswalidacja, scoring = RMSE na skali log.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KLUCZOWE: ocena na wydzielonym zbiorze WALIDACYJNYM (20%), nie na treningu.</a:t>
            </a:r>
          </a:p>
          <a:p>
            <a:pPr lvl="1">
              <a:spcAft>
                <a:spcPts val="1000"/>
              </a:spcAft>
            </a:pPr>
            <a:r>
              <a:rPr sz="1500" b="0" i="0">
                <a:solidFill>
                  <a:srgbClr val="6B7280"/>
                </a:solidFill>
                <a:latin typeface="Calibri"/>
              </a:rPr>
              <a:t>–  Preprocessing dopasowywany od nowa w każdym foldzie CV → brak wycieku danych.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Zbiór testowy (Kaggle) bez etykiet → służy tylko do generowania predykcji.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Poprzednia wersja oceniała modele na danych treningowych — zawyżało to wyniki.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WYNIKI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Wyniki — ranking modeli (zbiór walidacyjny)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10</a:t>
            </a:r>
          </a:p>
        </p:txBody>
      </p:sp>
      <p:pic>
        <p:nvPicPr>
          <p:cNvPr id="8" name="Picture 7" descr="04_ran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38686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Najlepszy: Gradient Boosting — R²=0.839, RMSE=$30,022, MAE=$19,445.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DIAGNOSTYKA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Analiza rezyduów najlepszego modelu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11</a:t>
            </a:r>
          </a:p>
        </p:txBody>
      </p:sp>
      <p:pic>
        <p:nvPicPr>
          <p:cNvPr id="8" name="Picture 7" descr="05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371600"/>
            <a:ext cx="10058400" cy="38686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MAE ≈ $19,445; mediana błędu 8.6%; model lekko zaniża ceny (~$2,839).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EXPLAINABLE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Interpretowalność modelu — SHAP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12</a:t>
            </a:r>
          </a:p>
        </p:txBody>
      </p:sp>
      <p:pic>
        <p:nvPicPr>
          <p:cNvPr id="8" name="Picture 7" descr="06_sh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1280160"/>
            <a:ext cx="7315200" cy="39901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Najważniejsze czynniki wyceny: HouseAge, Fireplaces, 2ndFlrSF, BsmtFinSF1. Model jest wyjaśnialny, nie "czarną skrzynką".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WYNIKI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Predykcje na zbiorze testowym (test_set.csv)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13</a:t>
            </a:r>
          </a:p>
        </p:txBody>
      </p:sp>
      <p:pic>
        <p:nvPicPr>
          <p:cNvPr id="8" name="Picture 7" descr="07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371600"/>
            <a:ext cx="9052560" cy="427939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Brak etykiet → brak metryk. Rozkład predykcji (śr. $175,485) zgodny z treningiem.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Kluczowe poprawki metodologiczne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Brak wycieku danych — preprocessing wewnątrz Pipeline.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Uczciwa ocena — zbiór walidacyjny + kroswalidacja zamiast oceny na treningu.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Imputacja z logiką dziedzinową — "None"/0 dla braku udogodnienia.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Detekcja outlierów (Isolation Forest) — stabilniejszy trening.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Log-transformacja zmiennej celu.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PCA tylko dla modeli liniowych; drzewa na oryginalnych cechach.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Strojenie hiperparametrów (GridSearchCV / RandomizedSearchCV).</a:t>
            </a:r>
          </a:p>
          <a:p>
            <a:pPr>
              <a:spcAft>
                <a:spcPts val="700"/>
              </a:spcAft>
            </a:pPr>
            <a:r>
              <a:rPr sz="1600" b="0" i="0">
                <a:solidFill>
                  <a:srgbClr val="2F3B4C"/>
                </a:solidFill>
                <a:latin typeface="Calibri"/>
              </a:rPr>
              <a:t>●  Analiza rezyduów + interpretowalność SHAP.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C72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1078992"/>
            <a:ext cx="1371600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4C72B0"/>
                </a:solidFill>
                <a:latin typeface="Calibri"/>
              </a:rPr>
              <a:t>PODSUMOWANIE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2F3B4C"/>
                </a:solidFill>
                <a:latin typeface="Calibri"/>
              </a:rPr>
              <a:t>Wnioski i rekomendacje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B7280"/>
                </a:solidFill>
                <a:latin typeface="Calibri"/>
              </a:rPr>
              <a:t>Analiza Cen Domów · Ames Housing · pipeline 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6B7280"/>
                </a:solidFill>
                <a:latin typeface="Calibri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371600"/>
            <a:ext cx="10789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Najlepsze modele to gradient boosting: Gradient Boosting (R²=0.839) i XGBoost (R²=0.839).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Modele drzewiaste wyraźnie przewyższają liniowe (R² ~0.84 vs ~0.70).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Modele liniowe ekstrapolują niebezpiecznie poza zakres cen — boosting jest bezpieczniejszy.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Najwięcej wartości dodały: jakość, łączna powierzchnia i wiek domu.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Rekomendacja wdrożeniowa: Gradient Boosting / XGBoost + monitoring rezyduów.</a:t>
            </a:r>
          </a:p>
          <a:p>
            <a:pPr>
              <a:spcAft>
                <a:spcPts val="1000"/>
              </a:spcAft>
            </a:pPr>
            <a:r>
              <a:rPr sz="1700" b="0" i="0">
                <a:solidFill>
                  <a:srgbClr val="2F3B4C"/>
                </a:solidFill>
                <a:latin typeface="Calibri"/>
              </a:rPr>
              <a:t>●  Dalsze kroki: ensemble (Stacking/Voting), imputacja LotFrontage wg dzielnicy, więcej cech kategorycznych.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5897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55A868"/>
                </a:solidFill>
                <a:latin typeface="Calibri"/>
              </a:rPr>
              <a:t>➜  Solidny, wyjaśnialny pipeline gotowy do wdrożenia i dalszej rozbudowy.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3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383280"/>
            <a:ext cx="12191695" cy="54864"/>
          </a:xfrm>
          <a:prstGeom prst="rect">
            <a:avLst/>
          </a:prstGeom>
          <a:solidFill>
            <a:srgbClr val="55A8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4688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Calibri"/>
              </a:rPr>
              <a:t>Dziękuję za uwagę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CCB974"/>
                </a:solidFill>
                <a:latin typeface="Calibri"/>
              </a:rPr>
              <a:t>Analiza Cen Domów · pełny pipeline ML z naciskiem na poprawność metodologiczną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